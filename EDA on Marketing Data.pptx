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67"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96" autoAdjust="0"/>
    <p:restoredTop sz="94660"/>
  </p:normalViewPr>
  <p:slideViewPr>
    <p:cSldViewPr snapToGrid="0" showGuides="1">
      <p:cViewPr varScale="1">
        <p:scale>
          <a:sx n="88" d="100"/>
          <a:sy n="88" d="100"/>
        </p:scale>
        <p:origin x="79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8/1/2024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8/1/2024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8/1/2024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8/1/2024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8/1/2024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8/1/2024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8/1/2024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8/1/2024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8/1/2024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8/1/2024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540634-C8A8-16EE-A50F-14AF0787DC8D}"/>
              </a:ext>
            </a:extLst>
          </p:cNvPr>
          <p:cNvSpPr>
            <a:spLocks noGrp="1"/>
          </p:cNvSpPr>
          <p:nvPr>
            <p:ph type="ctrTitle"/>
          </p:nvPr>
        </p:nvSpPr>
        <p:spPr>
          <a:xfrm>
            <a:off x="1915129" y="1313896"/>
            <a:ext cx="7770410" cy="1793288"/>
          </a:xfrm>
        </p:spPr>
        <p:txBody>
          <a:bodyPr/>
          <a:lstStyle/>
          <a:p>
            <a:r>
              <a:rPr lang="en-US" dirty="0"/>
              <a:t>Data analysis on        </a:t>
            </a:r>
            <a:r>
              <a:rPr lang="en-IN" sz="5400" b="1" i="0" u="none" strike="noStrike" dirty="0">
                <a:solidFill>
                  <a:srgbClr val="000000"/>
                </a:solidFill>
                <a:effectLst/>
                <a:latin typeface="Arial" panose="020B0604020202020204" pitchFamily="34" charset="0"/>
              </a:rPr>
              <a:t>Tourism Dataset</a:t>
            </a:r>
            <a:endParaRPr lang="en-IN" dirty="0"/>
          </a:p>
        </p:txBody>
      </p:sp>
      <p:sp>
        <p:nvSpPr>
          <p:cNvPr id="3" name="Subtitle 2">
            <a:extLst>
              <a:ext uri="{FF2B5EF4-FFF2-40B4-BE49-F238E27FC236}">
                <a16:creationId xmlns:a16="http://schemas.microsoft.com/office/drawing/2014/main" xmlns="" id="{4BFED036-06A6-705D-2497-635A0839DA41}"/>
              </a:ext>
            </a:extLst>
          </p:cNvPr>
          <p:cNvSpPr>
            <a:spLocks noGrp="1"/>
          </p:cNvSpPr>
          <p:nvPr>
            <p:ph type="subTitle" idx="1"/>
          </p:nvPr>
        </p:nvSpPr>
        <p:spPr>
          <a:xfrm>
            <a:off x="7975612" y="4199814"/>
            <a:ext cx="3000653" cy="2223855"/>
          </a:xfrm>
        </p:spPr>
        <p:txBody>
          <a:bodyPr>
            <a:noAutofit/>
          </a:bodyPr>
          <a:lstStyle/>
          <a:p>
            <a:pPr algn="l"/>
            <a:r>
              <a:rPr lang="en-US" sz="1800" b="1" dirty="0" smtClean="0"/>
              <a:t>Presented by:</a:t>
            </a:r>
          </a:p>
          <a:p>
            <a:pPr algn="l"/>
            <a:r>
              <a:rPr lang="en-US" sz="1800" b="1" dirty="0" smtClean="0"/>
              <a:t>Geetha </a:t>
            </a:r>
            <a:r>
              <a:rPr lang="en-US" sz="1800" b="1" dirty="0" err="1" smtClean="0"/>
              <a:t>Potuka</a:t>
            </a:r>
            <a:endParaRPr lang="en-US" sz="1800" b="1" dirty="0"/>
          </a:p>
        </p:txBody>
      </p:sp>
      <p:pic>
        <p:nvPicPr>
          <p:cNvPr id="5" name="Picture 4">
            <a:extLst>
              <a:ext uri="{FF2B5EF4-FFF2-40B4-BE49-F238E27FC236}">
                <a16:creationId xmlns:a16="http://schemas.microsoft.com/office/drawing/2014/main" xmlns="" id="{A4C906FE-C39A-4097-3019-77CF00CD491D}"/>
              </a:ext>
            </a:extLst>
          </p:cNvPr>
          <p:cNvPicPr>
            <a:picLocks noChangeAspect="1"/>
          </p:cNvPicPr>
          <p:nvPr/>
        </p:nvPicPr>
        <p:blipFill>
          <a:blip r:embed="rId2"/>
          <a:stretch>
            <a:fillRect/>
          </a:stretch>
        </p:blipFill>
        <p:spPr>
          <a:xfrm>
            <a:off x="2272684" y="3225017"/>
            <a:ext cx="4669654" cy="2642383"/>
          </a:xfrm>
          <a:prstGeom prst="rect">
            <a:avLst/>
          </a:prstGeom>
        </p:spPr>
      </p:pic>
    </p:spTree>
    <p:extLst>
      <p:ext uri="{BB962C8B-B14F-4D97-AF65-F5344CB8AC3E}">
        <p14:creationId xmlns:p14="http://schemas.microsoft.com/office/powerpoint/2010/main" val="2736528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4F4EAC-33C4-ACD7-9390-E1AB6A74607F}"/>
              </a:ext>
            </a:extLst>
          </p:cNvPr>
          <p:cNvSpPr>
            <a:spLocks noGrp="1"/>
          </p:cNvSpPr>
          <p:nvPr>
            <p:ph type="title"/>
          </p:nvPr>
        </p:nvSpPr>
        <p:spPr>
          <a:xfrm>
            <a:off x="994299" y="470517"/>
            <a:ext cx="9978501" cy="1701183"/>
          </a:xfrm>
        </p:spPr>
        <p:txBody>
          <a:bodyPr>
            <a:noAutofit/>
          </a:bodyPr>
          <a:lstStyle/>
          <a:p>
            <a:r>
              <a:rPr lang="en-US" sz="1800" b="1" u="sng" dirty="0">
                <a:solidFill>
                  <a:srgbClr val="00B0F0"/>
                </a:solidFill>
              </a:rPr>
              <a:t>Domain knowledge and Company Information:</a:t>
            </a:r>
            <a:br>
              <a:rPr lang="en-US" sz="1800" b="1" u="sng" dirty="0">
                <a:solidFill>
                  <a:srgbClr val="00B0F0"/>
                </a:solidFill>
              </a:rPr>
            </a:br>
            <a:r>
              <a:rPr lang="en-US" sz="1800" b="1" u="sng" dirty="0">
                <a:solidFill>
                  <a:schemeClr val="tx2"/>
                </a:solidFill>
              </a:rPr>
              <a:t>1.</a:t>
            </a:r>
            <a:r>
              <a:rPr lang="en-US" sz="1800" b="0" i="0" u="none" strike="noStrike" dirty="0">
                <a:solidFill>
                  <a:srgbClr val="000000"/>
                </a:solidFill>
                <a:effectLst/>
                <a:latin typeface="Arial" panose="020B0604020202020204" pitchFamily="34" charset="0"/>
              </a:rPr>
              <a:t> "Trips &amp; Travel .Com" company wants to enable and establish a viable business model to expand the customer base.</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2. One of the ways to expand the customer base is to introduce a new offering of packages. Currently, there are 5 types of packages the company is offering -  </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1.Basic.</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2.Standard.</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3.Deluxe.</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4Super Deluxe .</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5.King. </a:t>
            </a:r>
            <a:br>
              <a:rPr lang="en-US" sz="1800" b="0" i="0" u="none" strike="noStrike" dirty="0">
                <a:solidFill>
                  <a:srgbClr val="000000"/>
                </a:solidFill>
                <a:effectLst/>
                <a:latin typeface="Arial" panose="020B0604020202020204" pitchFamily="34" charset="0"/>
              </a:rPr>
            </a:br>
            <a:r>
              <a:rPr lang="en-US" sz="1800" b="1" u="sng" dirty="0">
                <a:solidFill>
                  <a:srgbClr val="00B0F0"/>
                </a:solidFill>
              </a:rPr>
              <a:t>The Marketing Department</a:t>
            </a:r>
            <a:r>
              <a:rPr lang="en-US" sz="1800" b="1" u="sng" dirty="0">
                <a:solidFill>
                  <a:srgbClr val="FF0000"/>
                </a:solidFill>
              </a:rPr>
              <a:t/>
            </a:r>
            <a:br>
              <a:rPr lang="en-US" sz="1800" b="1" u="sng" dirty="0">
                <a:solidFill>
                  <a:srgbClr val="FF0000"/>
                </a:solidFill>
              </a:rPr>
            </a:br>
            <a:r>
              <a:rPr lang="en-US" sz="1800" b="0" dirty="0"/>
              <a:t>1</a:t>
            </a:r>
            <a:r>
              <a:rPr lang="en-US" sz="1800" b="0" dirty="0">
                <a:effectLst/>
              </a:rPr>
              <a:t>.</a:t>
            </a:r>
            <a:r>
              <a:rPr lang="en-US" sz="1800" b="0" i="0" u="none" strike="noStrike" dirty="0">
                <a:solidFill>
                  <a:srgbClr val="000000"/>
                </a:solidFill>
                <a:effectLst/>
                <a:latin typeface="Arial" panose="020B0604020202020204" pitchFamily="34" charset="0"/>
              </a:rPr>
              <a:t>Looking at the data of the last year, we observed that 18% of the customers purchased the packages. </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2.the marketing cost was quite high because customers were contacted at random without looking at the available information. </a:t>
            </a:r>
            <a:br>
              <a:rPr lang="en-US" sz="1800" b="0" i="0" u="none" strike="noStrike" dirty="0">
                <a:solidFill>
                  <a:srgbClr val="000000"/>
                </a:solidFill>
                <a:effectLst/>
                <a:latin typeface="Arial" panose="020B0604020202020204" pitchFamily="34" charset="0"/>
              </a:rPr>
            </a:br>
            <a:r>
              <a:rPr lang="en-US" sz="1800" b="1" u="sng" dirty="0">
                <a:solidFill>
                  <a:srgbClr val="00B0F0"/>
                </a:solidFill>
              </a:rPr>
              <a:t>Problem Statement</a:t>
            </a:r>
            <a:r>
              <a:rPr lang="en-US" sz="1800" u="sng" dirty="0">
                <a:solidFill>
                  <a:srgbClr val="00B0F0"/>
                </a:solidFill>
              </a:rPr>
              <a:t>:</a:t>
            </a:r>
            <a:r>
              <a:rPr lang="en-US" sz="1800" b="0" i="0" u="none" strike="noStrike" dirty="0">
                <a:solidFill>
                  <a:srgbClr val="00B0F0"/>
                </a:solidFill>
                <a:effectLst/>
                <a:latin typeface="Arial" panose="020B0604020202020204" pitchFamily="34" charset="0"/>
              </a:rPr>
              <a:t/>
            </a:r>
            <a:br>
              <a:rPr lang="en-US" sz="1800" b="0" i="0" u="none" strike="noStrike" dirty="0">
                <a:solidFill>
                  <a:srgbClr val="00B0F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1.The company is now planning to launch a new product </a:t>
            </a:r>
            <a:r>
              <a:rPr lang="en-US" sz="1800" b="0" dirty="0">
                <a:solidFill>
                  <a:srgbClr val="000000"/>
                </a:solidFill>
                <a:latin typeface="Arial" panose="020B0604020202020204" pitchFamily="34" charset="0"/>
              </a:rPr>
              <a:t>.</a:t>
            </a:r>
            <a:br>
              <a:rPr lang="en-US" sz="1800" b="0" dirty="0">
                <a:solidFill>
                  <a:srgbClr val="000000"/>
                </a:solidFill>
                <a:latin typeface="Arial" panose="020B0604020202020204" pitchFamily="34" charset="0"/>
              </a:rPr>
            </a:br>
            <a:r>
              <a:rPr lang="en-US" sz="1800" b="0" dirty="0">
                <a:solidFill>
                  <a:srgbClr val="000000"/>
                </a:solidFill>
                <a:latin typeface="Arial" panose="020B0604020202020204" pitchFamily="34" charset="0"/>
              </a:rPr>
              <a:t>2.</a:t>
            </a:r>
            <a:r>
              <a:rPr lang="en-US" sz="1800" b="0" i="0" u="none" strike="noStrike" dirty="0">
                <a:solidFill>
                  <a:srgbClr val="000000"/>
                </a:solidFill>
                <a:effectLst/>
                <a:latin typeface="Arial" panose="020B0604020202020204" pitchFamily="34" charset="0"/>
              </a:rPr>
              <a:t>Wellness Tourism Package Wellness Tourism is defined as Travel that allows the traveler to maintain, enhance or kick-start a healthy lifestyle, and support or increase one's sense of well-being.</a:t>
            </a:r>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 </a:t>
            </a:r>
            <a:r>
              <a:rPr lang="en-US" sz="1800" b="1" u="sng" dirty="0">
                <a:solidFill>
                  <a:srgbClr val="00B0F0"/>
                </a:solidFill>
              </a:rPr>
              <a:t>Objectives:</a:t>
            </a:r>
            <a:r>
              <a:rPr lang="en-US" sz="1800" b="0" i="0" u="none" strike="noStrike" dirty="0">
                <a:solidFill>
                  <a:srgbClr val="000000"/>
                </a:solidFill>
                <a:effectLst/>
                <a:latin typeface="Arial" panose="020B0604020202020204" pitchFamily="34" charset="0"/>
              </a:rPr>
              <a:t/>
            </a:r>
            <a:br>
              <a:rPr lang="en-US" sz="1800" b="0" i="0" u="none" strike="noStrike" dirty="0">
                <a:solidFill>
                  <a:srgbClr val="000000"/>
                </a:solidFill>
                <a:effectLst/>
                <a:latin typeface="Arial" panose="020B0604020202020204" pitchFamily="34" charset="0"/>
              </a:rPr>
            </a:br>
            <a:r>
              <a:rPr lang="en-US" sz="1800" b="0" dirty="0">
                <a:solidFill>
                  <a:srgbClr val="000000"/>
                </a:solidFill>
                <a:latin typeface="Arial" panose="020B0604020202020204" pitchFamily="34" charset="0"/>
              </a:rPr>
              <a:t>T</a:t>
            </a:r>
            <a:r>
              <a:rPr lang="en-US" sz="1800" b="0" i="0" u="none" strike="noStrike" dirty="0">
                <a:solidFill>
                  <a:srgbClr val="000000"/>
                </a:solidFill>
                <a:effectLst/>
                <a:latin typeface="Arial" panose="020B0604020202020204" pitchFamily="34" charset="0"/>
              </a:rPr>
              <a:t>his time the company wants to harness the available data of existing and potential customers to make the marketing expenditure more efficient.</a:t>
            </a:r>
            <a:r>
              <a:rPr lang="en-US" sz="1800" b="0" dirty="0">
                <a:effectLst/>
              </a:rPr>
              <a:t/>
            </a:r>
            <a:br>
              <a:rPr lang="en-US" sz="1800" b="0" dirty="0">
                <a:effectLst/>
              </a:rPr>
            </a:br>
            <a:endParaRPr lang="en-IN" sz="1800" dirty="0"/>
          </a:p>
        </p:txBody>
      </p:sp>
    </p:spTree>
    <p:extLst>
      <p:ext uri="{BB962C8B-B14F-4D97-AF65-F5344CB8AC3E}">
        <p14:creationId xmlns:p14="http://schemas.microsoft.com/office/powerpoint/2010/main" val="2430827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latin typeface="Times New Roman" panose="02020603050405020304" pitchFamily="18" charset="0"/>
                <a:cs typeface="Times New Roman" panose="02020603050405020304" pitchFamily="18" charset="0"/>
              </a:rPr>
              <a:t>Missing Values </a:t>
            </a:r>
            <a:r>
              <a:rPr lang="en-US" sz="3200" dirty="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    V/S         Outliers Treatment</a:t>
            </a:r>
            <a:endParaRPr lang="en-US" sz="32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4148" y="1214846"/>
            <a:ext cx="2530504" cy="3508042"/>
          </a:xfrm>
        </p:spPr>
      </p:pic>
      <p:sp>
        <p:nvSpPr>
          <p:cNvPr id="7" name="TextBox 6"/>
          <p:cNvSpPr txBox="1"/>
          <p:nvPr/>
        </p:nvSpPr>
        <p:spPr>
          <a:xfrm>
            <a:off x="1283851" y="4789715"/>
            <a:ext cx="3383943" cy="1477328"/>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Missing values for all columns were filled with the mode, while missing values for the income column were filled with the median</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1214846"/>
            <a:ext cx="4667795" cy="3435531"/>
          </a:xfrm>
          <a:prstGeom prst="rect">
            <a:avLst/>
          </a:prstGeom>
        </p:spPr>
      </p:pic>
      <p:sp>
        <p:nvSpPr>
          <p:cNvPr id="9" name="TextBox 8"/>
          <p:cNvSpPr txBox="1"/>
          <p:nvPr/>
        </p:nvSpPr>
        <p:spPr>
          <a:xfrm rot="10800000" flipH="1" flipV="1">
            <a:off x="6250577" y="4742483"/>
            <a:ext cx="4232792"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Outliers were detected using a </a:t>
            </a:r>
            <a:r>
              <a:rPr lang="en-US" dirty="0" err="1">
                <a:latin typeface="Times New Roman" panose="02020603050405020304" pitchFamily="18" charset="0"/>
                <a:cs typeface="Times New Roman" panose="02020603050405020304" pitchFamily="18" charset="0"/>
              </a:rPr>
              <a:t>boxen</a:t>
            </a:r>
            <a:r>
              <a:rPr lang="en-US" dirty="0">
                <a:latin typeface="Times New Roman" panose="02020603050405020304" pitchFamily="18" charset="0"/>
                <a:cs typeface="Times New Roman" panose="02020603050405020304" pitchFamily="18" charset="0"/>
              </a:rPr>
              <a:t> plot and were addressed by removing high-income values.</a:t>
            </a:r>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0577" y="5665813"/>
            <a:ext cx="4629796" cy="734987"/>
          </a:xfrm>
          <a:prstGeom prst="rect">
            <a:avLst/>
          </a:prstGeom>
        </p:spPr>
      </p:pic>
    </p:spTree>
    <p:extLst>
      <p:ext uri="{BB962C8B-B14F-4D97-AF65-F5344CB8AC3E}">
        <p14:creationId xmlns:p14="http://schemas.microsoft.com/office/powerpoint/2010/main" val="2484202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2CA376EB-0058-8D85-C07E-0BBA2227B88E}"/>
              </a:ext>
            </a:extLst>
          </p:cNvPr>
          <p:cNvPicPr>
            <a:picLocks noChangeAspect="1"/>
          </p:cNvPicPr>
          <p:nvPr/>
        </p:nvPicPr>
        <p:blipFill>
          <a:blip r:embed="rId2"/>
          <a:stretch>
            <a:fillRect/>
          </a:stretch>
        </p:blipFill>
        <p:spPr>
          <a:xfrm>
            <a:off x="6522129" y="1912213"/>
            <a:ext cx="4375375" cy="3295819"/>
          </a:xfrm>
          <a:prstGeom prst="rect">
            <a:avLst/>
          </a:prstGeom>
        </p:spPr>
      </p:pic>
      <p:sp>
        <p:nvSpPr>
          <p:cNvPr id="9" name="TextBox 8">
            <a:extLst>
              <a:ext uri="{FF2B5EF4-FFF2-40B4-BE49-F238E27FC236}">
                <a16:creationId xmlns:a16="http://schemas.microsoft.com/office/drawing/2014/main" xmlns="" id="{A8CCFB5B-779A-A0CB-6352-8D38F23A2F6C}"/>
              </a:ext>
            </a:extLst>
          </p:cNvPr>
          <p:cNvSpPr txBox="1"/>
          <p:nvPr/>
        </p:nvSpPr>
        <p:spPr>
          <a:xfrm>
            <a:off x="1180730" y="1260629"/>
            <a:ext cx="3053919" cy="523220"/>
          </a:xfrm>
          <a:prstGeom prst="rect">
            <a:avLst/>
          </a:prstGeom>
          <a:noFill/>
        </p:spPr>
        <p:txBody>
          <a:bodyPr wrap="square" rtlCol="0">
            <a:spAutoFit/>
          </a:bodyPr>
          <a:lstStyle/>
          <a:p>
            <a:r>
              <a:rPr lang="en-US" sz="2800" b="1" dirty="0"/>
              <a:t>product-Taken</a:t>
            </a:r>
            <a:endParaRPr lang="en-IN" sz="2800" b="1" dirty="0"/>
          </a:p>
        </p:txBody>
      </p:sp>
      <p:sp>
        <p:nvSpPr>
          <p:cNvPr id="10" name="TextBox 9">
            <a:extLst>
              <a:ext uri="{FF2B5EF4-FFF2-40B4-BE49-F238E27FC236}">
                <a16:creationId xmlns:a16="http://schemas.microsoft.com/office/drawing/2014/main" xmlns="" id="{B3B79D24-04B3-41FE-295D-A3D16DC8388F}"/>
              </a:ext>
            </a:extLst>
          </p:cNvPr>
          <p:cNvSpPr txBox="1"/>
          <p:nvPr/>
        </p:nvSpPr>
        <p:spPr>
          <a:xfrm>
            <a:off x="6522129" y="1322184"/>
            <a:ext cx="3213717" cy="523220"/>
          </a:xfrm>
          <a:prstGeom prst="rect">
            <a:avLst/>
          </a:prstGeom>
          <a:noFill/>
        </p:spPr>
        <p:txBody>
          <a:bodyPr wrap="square" rtlCol="0">
            <a:spAutoFit/>
          </a:bodyPr>
          <a:lstStyle/>
          <a:p>
            <a:r>
              <a:rPr lang="en-US" sz="2800" b="1" dirty="0"/>
              <a:t>Type-of-contact</a:t>
            </a:r>
            <a:endParaRPr lang="en-IN" sz="2800" b="1" dirty="0"/>
          </a:p>
        </p:txBody>
      </p:sp>
      <p:sp>
        <p:nvSpPr>
          <p:cNvPr id="11" name="TextBox 10">
            <a:extLst>
              <a:ext uri="{FF2B5EF4-FFF2-40B4-BE49-F238E27FC236}">
                <a16:creationId xmlns:a16="http://schemas.microsoft.com/office/drawing/2014/main" xmlns="" id="{42F5FF8B-9921-05A4-0BC5-782233188558}"/>
              </a:ext>
            </a:extLst>
          </p:cNvPr>
          <p:cNvSpPr txBox="1"/>
          <p:nvPr/>
        </p:nvSpPr>
        <p:spPr>
          <a:xfrm>
            <a:off x="6522129" y="5380672"/>
            <a:ext cx="3817398" cy="1477328"/>
          </a:xfrm>
          <a:prstGeom prst="rect">
            <a:avLst/>
          </a:prstGeom>
          <a:noFill/>
        </p:spPr>
        <p:txBody>
          <a:bodyPr wrap="square" rtlCol="0">
            <a:spAutoFit/>
          </a:bodyPr>
          <a:lstStyle/>
          <a:p>
            <a:r>
              <a:rPr lang="en-IN" dirty="0">
                <a:solidFill>
                  <a:schemeClr val="accent5">
                    <a:lumMod val="75000"/>
                  </a:schemeClr>
                </a:solidFill>
              </a:rPr>
              <a:t>Insights:</a:t>
            </a:r>
          </a:p>
          <a:p>
            <a:r>
              <a:rPr lang="en-IN" dirty="0"/>
              <a:t>People mostly contact to company  by self Enquiry </a:t>
            </a:r>
          </a:p>
          <a:p>
            <a:r>
              <a:rPr lang="en-IN" dirty="0"/>
              <a:t>less people company invited link</a:t>
            </a:r>
          </a:p>
          <a:p>
            <a:endParaRPr lang="en-IN" dirty="0"/>
          </a:p>
        </p:txBody>
      </p:sp>
      <p:sp>
        <p:nvSpPr>
          <p:cNvPr id="14" name="TextBox 13">
            <a:extLst>
              <a:ext uri="{FF2B5EF4-FFF2-40B4-BE49-F238E27FC236}">
                <a16:creationId xmlns:a16="http://schemas.microsoft.com/office/drawing/2014/main" xmlns="" id="{97572D55-BCF6-78E2-2A6C-0573050D0C15}"/>
              </a:ext>
            </a:extLst>
          </p:cNvPr>
          <p:cNvSpPr txBox="1"/>
          <p:nvPr/>
        </p:nvSpPr>
        <p:spPr>
          <a:xfrm>
            <a:off x="4128117" y="594804"/>
            <a:ext cx="5264458" cy="523220"/>
          </a:xfrm>
          <a:prstGeom prst="rect">
            <a:avLst/>
          </a:prstGeom>
          <a:noFill/>
        </p:spPr>
        <p:txBody>
          <a:bodyPr wrap="square" rtlCol="0">
            <a:spAutoFit/>
          </a:bodyPr>
          <a:lstStyle/>
          <a:p>
            <a:r>
              <a:rPr lang="en-US" sz="2800" b="1" dirty="0"/>
              <a:t>Univariate analysis</a:t>
            </a:r>
            <a:endParaRPr lang="en-IN" sz="2800"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718" y="2011923"/>
            <a:ext cx="4349213" cy="3295819"/>
          </a:xfrm>
          <a:prstGeom prst="rect">
            <a:avLst/>
          </a:prstGeom>
        </p:spPr>
      </p:pic>
      <p:sp>
        <p:nvSpPr>
          <p:cNvPr id="4" name="Rectangle 1"/>
          <p:cNvSpPr>
            <a:spLocks noChangeArrowheads="1"/>
          </p:cNvSpPr>
          <p:nvPr/>
        </p:nvSpPr>
        <p:spPr bwMode="auto">
          <a:xfrm>
            <a:off x="1180730" y="5759159"/>
            <a:ext cx="436663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TextBox 6"/>
          <p:cNvSpPr txBox="1"/>
          <p:nvPr/>
        </p:nvSpPr>
        <p:spPr>
          <a:xfrm>
            <a:off x="1463040" y="5120640"/>
            <a:ext cx="3727270" cy="2031325"/>
          </a:xfrm>
          <a:prstGeom prst="rect">
            <a:avLst/>
          </a:prstGeom>
          <a:noFill/>
        </p:spPr>
        <p:txBody>
          <a:bodyPr wrap="square" rtlCol="0">
            <a:spAutoFit/>
          </a:bodyPr>
          <a:lstStyle/>
          <a:p>
            <a:r>
              <a:rPr lang="en-US" dirty="0" smtClean="0"/>
              <a:t>Insights:</a:t>
            </a:r>
          </a:p>
          <a:p>
            <a:r>
              <a:rPr lang="en-US" dirty="0" smtClean="0"/>
              <a:t>0-indicates the product is not purchased</a:t>
            </a:r>
          </a:p>
          <a:p>
            <a:r>
              <a:rPr lang="en-US" dirty="0" smtClean="0"/>
              <a:t>1-indicates the product is purchased</a:t>
            </a:r>
          </a:p>
          <a:p>
            <a:r>
              <a:rPr lang="en-US" dirty="0"/>
              <a:t>Therefore, customers are not purchasing the product.</a:t>
            </a:r>
            <a:endParaRPr lang="en-US" dirty="0" smtClean="0"/>
          </a:p>
          <a:p>
            <a:endParaRPr lang="en-US" dirty="0"/>
          </a:p>
        </p:txBody>
      </p:sp>
    </p:spTree>
    <p:extLst>
      <p:ext uri="{BB962C8B-B14F-4D97-AF65-F5344CB8AC3E}">
        <p14:creationId xmlns:p14="http://schemas.microsoft.com/office/powerpoint/2010/main" val="2255189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78065653-E4A8-14EF-D338-5FBD3D6B528C}"/>
              </a:ext>
            </a:extLst>
          </p:cNvPr>
          <p:cNvPicPr>
            <a:picLocks noChangeAspect="1"/>
          </p:cNvPicPr>
          <p:nvPr/>
        </p:nvPicPr>
        <p:blipFill>
          <a:blip r:embed="rId2"/>
          <a:stretch>
            <a:fillRect/>
          </a:stretch>
        </p:blipFill>
        <p:spPr>
          <a:xfrm>
            <a:off x="878888" y="1250959"/>
            <a:ext cx="4592170" cy="3308520"/>
          </a:xfrm>
          <a:prstGeom prst="rect">
            <a:avLst/>
          </a:prstGeom>
        </p:spPr>
      </p:pic>
      <p:pic>
        <p:nvPicPr>
          <p:cNvPr id="6" name="Picture 5">
            <a:extLst>
              <a:ext uri="{FF2B5EF4-FFF2-40B4-BE49-F238E27FC236}">
                <a16:creationId xmlns:a16="http://schemas.microsoft.com/office/drawing/2014/main" xmlns="" id="{D6D98C19-CC82-2AE7-7EB0-16C6947690EA}"/>
              </a:ext>
            </a:extLst>
          </p:cNvPr>
          <p:cNvPicPr>
            <a:picLocks noChangeAspect="1"/>
          </p:cNvPicPr>
          <p:nvPr/>
        </p:nvPicPr>
        <p:blipFill>
          <a:blip r:embed="rId3"/>
          <a:stretch>
            <a:fillRect/>
          </a:stretch>
        </p:blipFill>
        <p:spPr>
          <a:xfrm>
            <a:off x="6303693" y="1225145"/>
            <a:ext cx="4874493" cy="3241142"/>
          </a:xfrm>
          <a:prstGeom prst="rect">
            <a:avLst/>
          </a:prstGeom>
        </p:spPr>
      </p:pic>
      <p:sp>
        <p:nvSpPr>
          <p:cNvPr id="7" name="TextBox 6">
            <a:extLst>
              <a:ext uri="{FF2B5EF4-FFF2-40B4-BE49-F238E27FC236}">
                <a16:creationId xmlns:a16="http://schemas.microsoft.com/office/drawing/2014/main" xmlns="" id="{2A3CFF00-2EB1-529A-5794-98843EB36524}"/>
              </a:ext>
            </a:extLst>
          </p:cNvPr>
          <p:cNvSpPr txBox="1"/>
          <p:nvPr/>
        </p:nvSpPr>
        <p:spPr>
          <a:xfrm>
            <a:off x="1485900" y="685800"/>
            <a:ext cx="1568018" cy="461665"/>
          </a:xfrm>
          <a:prstGeom prst="rect">
            <a:avLst/>
          </a:prstGeom>
          <a:noFill/>
        </p:spPr>
        <p:txBody>
          <a:bodyPr wrap="square" rtlCol="0">
            <a:spAutoFit/>
          </a:bodyPr>
          <a:lstStyle/>
          <a:p>
            <a:r>
              <a:rPr lang="en-US" sz="2400" b="1" dirty="0"/>
              <a:t>Packages </a:t>
            </a:r>
            <a:endParaRPr lang="en-IN" sz="2400" b="1" dirty="0"/>
          </a:p>
        </p:txBody>
      </p:sp>
      <p:sp>
        <p:nvSpPr>
          <p:cNvPr id="8" name="TextBox 7">
            <a:extLst>
              <a:ext uri="{FF2B5EF4-FFF2-40B4-BE49-F238E27FC236}">
                <a16:creationId xmlns:a16="http://schemas.microsoft.com/office/drawing/2014/main" xmlns="" id="{8C52867C-5876-1B85-A5FC-5742FCF05471}"/>
              </a:ext>
            </a:extLst>
          </p:cNvPr>
          <p:cNvSpPr txBox="1"/>
          <p:nvPr/>
        </p:nvSpPr>
        <p:spPr>
          <a:xfrm flipH="1">
            <a:off x="6605533" y="763480"/>
            <a:ext cx="2671632" cy="461665"/>
          </a:xfrm>
          <a:prstGeom prst="rect">
            <a:avLst/>
          </a:prstGeom>
          <a:noFill/>
        </p:spPr>
        <p:txBody>
          <a:bodyPr wrap="square" rtlCol="0">
            <a:spAutoFit/>
          </a:bodyPr>
          <a:lstStyle/>
          <a:p>
            <a:r>
              <a:rPr lang="en-US" sz="2400" b="1" dirty="0"/>
              <a:t>Rating</a:t>
            </a:r>
            <a:endParaRPr lang="en-IN" sz="2400" b="1" dirty="0"/>
          </a:p>
        </p:txBody>
      </p:sp>
      <p:sp>
        <p:nvSpPr>
          <p:cNvPr id="9" name="TextBox 8">
            <a:extLst>
              <a:ext uri="{FF2B5EF4-FFF2-40B4-BE49-F238E27FC236}">
                <a16:creationId xmlns:a16="http://schemas.microsoft.com/office/drawing/2014/main" xmlns="" id="{17876AEA-6C4E-4B0A-4F65-9B39370414CF}"/>
              </a:ext>
            </a:extLst>
          </p:cNvPr>
          <p:cNvSpPr txBox="1"/>
          <p:nvPr/>
        </p:nvSpPr>
        <p:spPr>
          <a:xfrm>
            <a:off x="1056443" y="5078027"/>
            <a:ext cx="4592170" cy="646331"/>
          </a:xfrm>
          <a:prstGeom prst="rect">
            <a:avLst/>
          </a:prstGeom>
          <a:noFill/>
        </p:spPr>
        <p:txBody>
          <a:bodyPr wrap="square" rtlCol="0">
            <a:spAutoFit/>
          </a:bodyPr>
          <a:lstStyle/>
          <a:p>
            <a:r>
              <a:rPr lang="en-US" sz="1800" dirty="0">
                <a:solidFill>
                  <a:schemeClr val="accent5">
                    <a:lumMod val="75000"/>
                  </a:schemeClr>
                </a:solidFill>
              </a:rPr>
              <a:t>Insights:</a:t>
            </a:r>
            <a:r>
              <a:rPr lang="en-US" sz="1800" dirty="0">
                <a:solidFill>
                  <a:srgbClr val="002060"/>
                </a:solidFill>
              </a:rPr>
              <a:t> we have 5 packages mostly basic and Deluxe are taking highly</a:t>
            </a:r>
          </a:p>
        </p:txBody>
      </p:sp>
      <p:sp>
        <p:nvSpPr>
          <p:cNvPr id="10" name="TextBox 9">
            <a:extLst>
              <a:ext uri="{FF2B5EF4-FFF2-40B4-BE49-F238E27FC236}">
                <a16:creationId xmlns:a16="http://schemas.microsoft.com/office/drawing/2014/main" xmlns="" id="{CBC98DE1-21DB-AD4D-370E-D55BB055D94F}"/>
              </a:ext>
            </a:extLst>
          </p:cNvPr>
          <p:cNvSpPr txBox="1"/>
          <p:nvPr/>
        </p:nvSpPr>
        <p:spPr>
          <a:xfrm>
            <a:off x="6471821" y="4811697"/>
            <a:ext cx="4429958" cy="646331"/>
          </a:xfrm>
          <a:prstGeom prst="rect">
            <a:avLst/>
          </a:prstGeom>
          <a:noFill/>
        </p:spPr>
        <p:txBody>
          <a:bodyPr wrap="square" rtlCol="0">
            <a:spAutoFit/>
          </a:bodyPr>
          <a:lstStyle/>
          <a:p>
            <a:r>
              <a:rPr lang="en-US" dirty="0">
                <a:solidFill>
                  <a:schemeClr val="accent5">
                    <a:lumMod val="75000"/>
                  </a:schemeClr>
                </a:solidFill>
              </a:rPr>
              <a:t>Insights:</a:t>
            </a:r>
            <a:r>
              <a:rPr lang="en-US" dirty="0">
                <a:solidFill>
                  <a:srgbClr val="FF0000"/>
                </a:solidFill>
              </a:rPr>
              <a:t> </a:t>
            </a:r>
            <a:r>
              <a:rPr lang="en-US" dirty="0">
                <a:solidFill>
                  <a:schemeClr val="accent1">
                    <a:lumMod val="50000"/>
                  </a:schemeClr>
                </a:solidFill>
              </a:rPr>
              <a:t>mostly rating  is 3.0  whereas rating 4,5 are low</a:t>
            </a:r>
            <a:endParaRPr lang="en-IN" dirty="0">
              <a:solidFill>
                <a:schemeClr val="accent1">
                  <a:lumMod val="50000"/>
                </a:schemeClr>
              </a:solidFill>
            </a:endParaRPr>
          </a:p>
        </p:txBody>
      </p:sp>
    </p:spTree>
    <p:extLst>
      <p:ext uri="{BB962C8B-B14F-4D97-AF65-F5344CB8AC3E}">
        <p14:creationId xmlns:p14="http://schemas.microsoft.com/office/powerpoint/2010/main" val="2628595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xmlns="" id="{282A3C72-4F9F-2DD0-A31C-4AD578D7AB01}"/>
              </a:ext>
            </a:extLst>
          </p:cNvPr>
          <p:cNvSpPr txBox="1"/>
          <p:nvPr/>
        </p:nvSpPr>
        <p:spPr>
          <a:xfrm>
            <a:off x="1175657" y="4980373"/>
            <a:ext cx="4397829" cy="1569660"/>
          </a:xfrm>
          <a:prstGeom prst="rect">
            <a:avLst/>
          </a:prstGeom>
          <a:noFill/>
        </p:spPr>
        <p:txBody>
          <a:bodyPr wrap="square" rtlCol="0">
            <a:spAutoFit/>
          </a:bodyPr>
          <a:lstStyle/>
          <a:p>
            <a:r>
              <a:rPr lang="en-US" sz="1600" dirty="0" err="1" smtClean="0">
                <a:latin typeface="Times New Roman" panose="02020603050405020304" pitchFamily="18" charset="0"/>
                <a:cs typeface="Times New Roman" panose="02020603050405020304" pitchFamily="18" charset="0"/>
              </a:rPr>
              <a:t>Insights:It</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is right-skewed, indicating the presence of outliers.</a:t>
            </a:r>
          </a:p>
          <a:p>
            <a:r>
              <a:rPr lang="en-US" sz="1600" dirty="0" err="1">
                <a:latin typeface="Times New Roman" panose="02020603050405020304" pitchFamily="18" charset="0"/>
                <a:cs typeface="Times New Roman" panose="02020603050405020304" pitchFamily="18" charset="0"/>
              </a:rPr>
              <a:t>Skewness</a:t>
            </a:r>
            <a:r>
              <a:rPr lang="en-US" sz="1600" dirty="0">
                <a:latin typeface="Times New Roman" panose="02020603050405020304" pitchFamily="18" charset="0"/>
                <a:cs typeface="Times New Roman" panose="02020603050405020304" pitchFamily="18" charset="0"/>
              </a:rPr>
              <a:t> is greater than 1.</a:t>
            </a:r>
          </a:p>
          <a:p>
            <a:r>
              <a:rPr lang="en-US" sz="1600" dirty="0">
                <a:latin typeface="Times New Roman" panose="02020603050405020304" pitchFamily="18" charset="0"/>
                <a:cs typeface="Times New Roman" panose="02020603050405020304" pitchFamily="18" charset="0"/>
              </a:rPr>
              <a:t>The mean is greater than the median.</a:t>
            </a:r>
          </a:p>
          <a:p>
            <a:r>
              <a:rPr lang="en-US" sz="1600" dirty="0">
                <a:latin typeface="Times New Roman" panose="02020603050405020304" pitchFamily="18" charset="0"/>
                <a:cs typeface="Times New Roman" panose="02020603050405020304" pitchFamily="18" charset="0"/>
              </a:rPr>
              <a:t>Kurtosis is also higher.</a:t>
            </a:r>
          </a:p>
          <a:p>
            <a:r>
              <a:rPr lang="en-US" sz="1600" dirty="0">
                <a:latin typeface="Times New Roman" panose="02020603050405020304" pitchFamily="18" charset="0"/>
                <a:cs typeface="Times New Roman" panose="02020603050405020304" pitchFamily="18" charset="0"/>
              </a:rPr>
              <a:t>Therefore, it follows an exponential distribution.</a:t>
            </a:r>
          </a:p>
        </p:txBody>
      </p:sp>
      <p:sp>
        <p:nvSpPr>
          <p:cNvPr id="2" name="TextBox 1"/>
          <p:cNvSpPr txBox="1"/>
          <p:nvPr/>
        </p:nvSpPr>
        <p:spPr>
          <a:xfrm>
            <a:off x="1071237" y="644434"/>
            <a:ext cx="3927483" cy="646331"/>
          </a:xfrm>
          <a:prstGeom prst="rect">
            <a:avLst/>
          </a:prstGeom>
          <a:noFill/>
        </p:spPr>
        <p:txBody>
          <a:bodyPr wrap="square" rtlCol="0">
            <a:spAutoFit/>
          </a:bodyPr>
          <a:lstStyle/>
          <a:p>
            <a:r>
              <a:rPr lang="en-US" sz="3600" dirty="0" smtClean="0"/>
              <a:t>Income</a:t>
            </a:r>
            <a:endParaRPr lang="en-US" sz="36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155" y="1393370"/>
            <a:ext cx="4441371" cy="3257007"/>
          </a:xfrm>
          <a:prstGeom prst="rect">
            <a:avLst/>
          </a:prstGeom>
        </p:spPr>
      </p:pic>
    </p:spTree>
    <p:extLst>
      <p:ext uri="{BB962C8B-B14F-4D97-AF65-F5344CB8AC3E}">
        <p14:creationId xmlns:p14="http://schemas.microsoft.com/office/powerpoint/2010/main" val="718643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F25511AF-91EA-A765-B9A6-5F1F85DDD8AF}"/>
              </a:ext>
            </a:extLst>
          </p:cNvPr>
          <p:cNvSpPr txBox="1"/>
          <p:nvPr/>
        </p:nvSpPr>
        <p:spPr>
          <a:xfrm>
            <a:off x="1003637" y="232426"/>
            <a:ext cx="5380313"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Relationship between product Taken and product pitched</a:t>
            </a:r>
            <a:endParaRPr lang="en-IN" sz="20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0BE5A680-0551-2D68-9AFA-383E6201C4AE}"/>
              </a:ext>
            </a:extLst>
          </p:cNvPr>
          <p:cNvSpPr txBox="1"/>
          <p:nvPr/>
        </p:nvSpPr>
        <p:spPr>
          <a:xfrm>
            <a:off x="6305006" y="3608748"/>
            <a:ext cx="5277394" cy="1938992"/>
          </a:xfrm>
          <a:prstGeom prst="rect">
            <a:avLst/>
          </a:prstGeom>
          <a:noFill/>
        </p:spPr>
        <p:txBody>
          <a:bodyPr wrap="square" rtlCol="0">
            <a:spAutoFit/>
          </a:bodyPr>
          <a:lstStyle/>
          <a:p>
            <a:r>
              <a:rPr lang="en-IN" sz="2400" dirty="0">
                <a:solidFill>
                  <a:schemeClr val="accent5">
                    <a:lumMod val="75000"/>
                  </a:schemeClr>
                </a:solidFill>
                <a:latin typeface="Times New Roman" panose="02020603050405020304" pitchFamily="18" charset="0"/>
                <a:cs typeface="Times New Roman" panose="02020603050405020304" pitchFamily="18" charset="0"/>
              </a:rPr>
              <a:t>Insights: </a:t>
            </a:r>
            <a:r>
              <a:rPr lang="en-US" sz="2400" dirty="0">
                <a:latin typeface="Times New Roman" panose="02020603050405020304" pitchFamily="18" charset="0"/>
                <a:cs typeface="Times New Roman" panose="02020603050405020304" pitchFamily="18" charset="0"/>
              </a:rPr>
              <a:t>There are five types of rooms, with very few people opting for basic and deluxe accommodations. On the other hand the super deluxe room was largely rejected by many individuals.</a:t>
            </a:r>
            <a:endParaRPr lang="en-IN"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853" y="1463420"/>
            <a:ext cx="4929052" cy="408432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7578" y="653143"/>
            <a:ext cx="3257006" cy="2424270"/>
          </a:xfrm>
          <a:prstGeom prst="rect">
            <a:avLst/>
          </a:prstGeom>
        </p:spPr>
      </p:pic>
    </p:spTree>
    <p:extLst>
      <p:ext uri="{BB962C8B-B14F-4D97-AF65-F5344CB8AC3E}">
        <p14:creationId xmlns:p14="http://schemas.microsoft.com/office/powerpoint/2010/main" val="2207133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9AE72662-BF51-A206-40C5-650584B8FE0A}"/>
              </a:ext>
            </a:extLst>
          </p:cNvPr>
          <p:cNvSpPr txBox="1"/>
          <p:nvPr/>
        </p:nvSpPr>
        <p:spPr>
          <a:xfrm>
            <a:off x="1371600" y="685799"/>
            <a:ext cx="5016758"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Relationship between product Taken and type of </a:t>
            </a:r>
          </a:p>
          <a:p>
            <a:r>
              <a:rPr lang="en-US" b="1" dirty="0">
                <a:latin typeface="Times New Roman" panose="02020603050405020304" pitchFamily="18" charset="0"/>
                <a:cs typeface="Times New Roman" panose="02020603050405020304" pitchFamily="18" charset="0"/>
              </a:rPr>
              <a:t>contact</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xmlns="" id="{9C0E55F8-948C-FBA8-5854-A9420B243ADC}"/>
              </a:ext>
            </a:extLst>
          </p:cNvPr>
          <p:cNvSpPr txBox="1"/>
          <p:nvPr/>
        </p:nvSpPr>
        <p:spPr>
          <a:xfrm>
            <a:off x="6350496" y="3526655"/>
            <a:ext cx="5101698" cy="2246769"/>
          </a:xfrm>
          <a:prstGeom prst="rect">
            <a:avLst/>
          </a:prstGeom>
          <a:noFill/>
        </p:spPr>
        <p:txBody>
          <a:bodyPr wrap="square" rtlCol="0">
            <a:spAutoFit/>
          </a:bodyPr>
          <a:lstStyle/>
          <a:p>
            <a:r>
              <a:rPr lang="en-IN" sz="2000" dirty="0">
                <a:solidFill>
                  <a:schemeClr val="accent5">
                    <a:lumMod val="75000"/>
                  </a:schemeClr>
                </a:solidFill>
                <a:latin typeface="Times New Roman" panose="02020603050405020304" pitchFamily="18" charset="0"/>
                <a:cs typeface="Times New Roman" panose="02020603050405020304" pitchFamily="18" charset="0"/>
              </a:rPr>
              <a:t>Insights:</a:t>
            </a:r>
            <a:r>
              <a:rPr lang="en-IN" sz="2000" dirty="0">
                <a:latin typeface="Times New Roman" panose="02020603050405020304" pitchFamily="18" charset="0"/>
                <a:cs typeface="Times New Roman" panose="02020603050405020304" pitchFamily="18" charset="0"/>
              </a:rPr>
              <a:t> mostly product are taken by self Enquiry </a:t>
            </a:r>
          </a:p>
          <a:p>
            <a:r>
              <a:rPr lang="en-US" sz="2000" dirty="0">
                <a:latin typeface="Times New Roman" panose="02020603050405020304" pitchFamily="18" charset="0"/>
                <a:cs typeface="Times New Roman" panose="02020603050405020304" pitchFamily="18" charset="0"/>
              </a:rPr>
              <a:t>The majority of customers who purchased the product did so through self-enquiry, while, at the same time, a higher number of customers who declined the product also came from self-enquiry.</a:t>
            </a:r>
            <a:endParaRPr lang="en-IN"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0858" y="1477583"/>
            <a:ext cx="5251267" cy="4098143"/>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3680" y="1332130"/>
            <a:ext cx="3927566" cy="1858292"/>
          </a:xfrm>
          <a:prstGeom prst="rect">
            <a:avLst/>
          </a:prstGeom>
        </p:spPr>
      </p:pic>
    </p:spTree>
    <p:extLst>
      <p:ext uri="{BB962C8B-B14F-4D97-AF65-F5344CB8AC3E}">
        <p14:creationId xmlns:p14="http://schemas.microsoft.com/office/powerpoint/2010/main" val="3111922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0DE4DA7A-49E2-D7A0-1D7E-72BC66F8B40C}"/>
              </a:ext>
            </a:extLst>
          </p:cNvPr>
          <p:cNvSpPr txBox="1"/>
          <p:nvPr/>
        </p:nvSpPr>
        <p:spPr>
          <a:xfrm>
            <a:off x="1207363" y="621437"/>
            <a:ext cx="4119239" cy="120032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Relationship between product Taken and </a:t>
            </a:r>
          </a:p>
          <a:p>
            <a:r>
              <a:rPr lang="en-US" b="1" dirty="0">
                <a:latin typeface="Times New Roman" panose="02020603050405020304" pitchFamily="18" charset="0"/>
                <a:cs typeface="Times New Roman" panose="02020603050405020304" pitchFamily="18" charset="0"/>
              </a:rPr>
              <a:t>Occupation</a:t>
            </a:r>
            <a:endParaRPr lang="en-IN" b="1" dirty="0">
              <a:latin typeface="Times New Roman" panose="02020603050405020304" pitchFamily="18" charset="0"/>
              <a:cs typeface="Times New Roman" panose="02020603050405020304" pitchFamily="18" charset="0"/>
            </a:endParaRPr>
          </a:p>
          <a:p>
            <a:endParaRPr lang="en-IN" dirty="0"/>
          </a:p>
        </p:txBody>
      </p:sp>
      <p:sp>
        <p:nvSpPr>
          <p:cNvPr id="10" name="TextBox 9">
            <a:extLst>
              <a:ext uri="{FF2B5EF4-FFF2-40B4-BE49-F238E27FC236}">
                <a16:creationId xmlns:a16="http://schemas.microsoft.com/office/drawing/2014/main" xmlns="" id="{69ABC3D8-15FB-C964-12DD-764C68258192}"/>
              </a:ext>
            </a:extLst>
          </p:cNvPr>
          <p:cNvSpPr txBox="1"/>
          <p:nvPr/>
        </p:nvSpPr>
        <p:spPr>
          <a:xfrm>
            <a:off x="6383045" y="3506680"/>
            <a:ext cx="4714042" cy="2308324"/>
          </a:xfrm>
          <a:prstGeom prst="rect">
            <a:avLst/>
          </a:prstGeom>
          <a:noFill/>
        </p:spPr>
        <p:txBody>
          <a:bodyPr wrap="square" rtlCol="0">
            <a:spAutoFit/>
          </a:bodyPr>
          <a:lstStyle/>
          <a:p>
            <a:r>
              <a:rPr lang="en-US" sz="2400" dirty="0">
                <a:solidFill>
                  <a:schemeClr val="accent5">
                    <a:lumMod val="75000"/>
                  </a:schemeClr>
                </a:solidFill>
                <a:latin typeface="Times New Roman" panose="02020603050405020304" pitchFamily="18" charset="0"/>
                <a:cs typeface="Times New Roman" panose="02020603050405020304" pitchFamily="18" charset="0"/>
              </a:rPr>
              <a:t>Insights:</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Customers who purchased the product were high from the salaried and small business categories, while the product faced a higher rate of rejection among salaried individuals</a:t>
            </a:r>
            <a:r>
              <a:rPr lang="en-US" sz="2400" dirty="0"/>
              <a:t>.</a:t>
            </a:r>
            <a:endParaRPr lang="en-IN" sz="2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406" y="1544766"/>
            <a:ext cx="4711337" cy="457542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9177" y="1210491"/>
            <a:ext cx="3274423" cy="1994263"/>
          </a:xfrm>
          <a:prstGeom prst="rect">
            <a:avLst/>
          </a:prstGeom>
        </p:spPr>
      </p:pic>
    </p:spTree>
    <p:extLst>
      <p:ext uri="{BB962C8B-B14F-4D97-AF65-F5344CB8AC3E}">
        <p14:creationId xmlns:p14="http://schemas.microsoft.com/office/powerpoint/2010/main" val="2554657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5BA964E2-F7F0-8074-41AD-8AF7C069DA45}"/>
              </a:ext>
            </a:extLst>
          </p:cNvPr>
          <p:cNvSpPr txBox="1"/>
          <p:nvPr/>
        </p:nvSpPr>
        <p:spPr>
          <a:xfrm>
            <a:off x="905522" y="319596"/>
            <a:ext cx="8877670" cy="3539430"/>
          </a:xfrm>
          <a:prstGeom prst="rect">
            <a:avLst/>
          </a:prstGeom>
          <a:noFill/>
        </p:spPr>
        <p:txBody>
          <a:bodyPr wrap="square" rtlCol="0">
            <a:spAutoFit/>
          </a:bodyPr>
          <a:lstStyle/>
          <a:p>
            <a:r>
              <a:rPr lang="en-US" sz="2400" b="1" dirty="0">
                <a:solidFill>
                  <a:srgbClr val="00B0F0"/>
                </a:solidFill>
              </a:rPr>
              <a:t>Recommendations based on insights: </a:t>
            </a:r>
            <a:r>
              <a:rPr lang="en-US" sz="2400" b="1" dirty="0">
                <a:solidFill>
                  <a:srgbClr val="FF0000"/>
                </a:solidFill>
              </a:rPr>
              <a:t> </a:t>
            </a:r>
          </a:p>
          <a:p>
            <a:r>
              <a:rPr lang="en-US" sz="2000" dirty="0"/>
              <a:t>1.Basic and Deluxe products have lower prices, and most customers tend to purchase these items. Therefore, in order to achieve a balanced distribution of sales across all products, we should consider reducing the prices of the Super Deluxe and King products.</a:t>
            </a:r>
          </a:p>
          <a:p>
            <a:r>
              <a:rPr lang="en-US" sz="2000" dirty="0"/>
              <a:t>2.To improve our rating, we must understand our customers' requirements. By fulfilling their needs based on these requirements, we can then achieve a higher rating.</a:t>
            </a:r>
          </a:p>
          <a:p>
            <a:r>
              <a:rPr lang="en-US" sz="2000" dirty="0"/>
              <a:t>3.We need to provide accurate information about the hotel on the website, including a contact number for guests to reach out to.</a:t>
            </a:r>
            <a:endParaRPr lang="en-IN" sz="2000" dirty="0"/>
          </a:p>
          <a:p>
            <a:r>
              <a:rPr lang="en-US" sz="2000" dirty="0"/>
              <a:t>4.we can give advertisements through social media to reach the people</a:t>
            </a:r>
            <a:r>
              <a:rPr lang="en-IN" sz="2000" dirty="0"/>
              <a:t> </a:t>
            </a:r>
          </a:p>
        </p:txBody>
      </p:sp>
      <p:sp>
        <p:nvSpPr>
          <p:cNvPr id="4" name="TextBox 3">
            <a:extLst>
              <a:ext uri="{FF2B5EF4-FFF2-40B4-BE49-F238E27FC236}">
                <a16:creationId xmlns:a16="http://schemas.microsoft.com/office/drawing/2014/main" xmlns="" id="{8B4C3281-DE4D-66B7-8002-DCFBE0BA8E8A}"/>
              </a:ext>
            </a:extLst>
          </p:cNvPr>
          <p:cNvSpPr txBox="1"/>
          <p:nvPr/>
        </p:nvSpPr>
        <p:spPr>
          <a:xfrm>
            <a:off x="905522" y="3945086"/>
            <a:ext cx="10209320" cy="2000548"/>
          </a:xfrm>
          <a:prstGeom prst="rect">
            <a:avLst/>
          </a:prstGeom>
          <a:noFill/>
        </p:spPr>
        <p:txBody>
          <a:bodyPr wrap="square" rtlCol="0">
            <a:spAutoFit/>
          </a:bodyPr>
          <a:lstStyle/>
          <a:p>
            <a:r>
              <a:rPr lang="en-IN" sz="2400" dirty="0">
                <a:solidFill>
                  <a:srgbClr val="00B0F0"/>
                </a:solidFill>
              </a:rPr>
              <a:t>Conclusion:</a:t>
            </a:r>
          </a:p>
          <a:p>
            <a:r>
              <a:rPr lang="en-US" sz="2000" dirty="0">
                <a:solidFill>
                  <a:schemeClr val="accent1">
                    <a:lumMod val="50000"/>
                  </a:schemeClr>
                </a:solidFill>
              </a:rPr>
              <a:t>Personalized marketing takes into account customer preferences, travel history, and their interests in well-being. This approach involves crafting customer-specific messages and offers that emphasize the advantages of Wellness Tourism. After launching the Wellness Tourism program, gather feedback from customers. This feedback will assist us in improving the program's strategies</a:t>
            </a:r>
            <a:endParaRPr lang="en-IN" sz="2000" dirty="0">
              <a:solidFill>
                <a:schemeClr val="accent1">
                  <a:lumMod val="50000"/>
                </a:schemeClr>
              </a:solidFill>
            </a:endParaRPr>
          </a:p>
        </p:txBody>
      </p:sp>
    </p:spTree>
    <p:extLst>
      <p:ext uri="{BB962C8B-B14F-4D97-AF65-F5344CB8AC3E}">
        <p14:creationId xmlns:p14="http://schemas.microsoft.com/office/powerpoint/2010/main" val="1108619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xmlns="" id="{21F5C063-0235-21A7-1066-A609FCD2F63E}"/>
              </a:ext>
            </a:extLst>
          </p:cNvPr>
          <p:cNvPicPr>
            <a:picLocks noChangeAspect="1"/>
          </p:cNvPicPr>
          <p:nvPr/>
        </p:nvPicPr>
        <p:blipFill>
          <a:blip r:embed="rId2"/>
          <a:stretch>
            <a:fillRect/>
          </a:stretch>
        </p:blipFill>
        <p:spPr>
          <a:xfrm>
            <a:off x="0" y="0"/>
            <a:ext cx="12192000" cy="6915705"/>
          </a:xfrm>
          <a:prstGeom prst="rect">
            <a:avLst/>
          </a:prstGeom>
        </p:spPr>
      </p:pic>
    </p:spTree>
    <p:extLst>
      <p:ext uri="{BB962C8B-B14F-4D97-AF65-F5344CB8AC3E}">
        <p14:creationId xmlns:p14="http://schemas.microsoft.com/office/powerpoint/2010/main" val="4263120225"/>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{F7843D35-2C75-4758-8D9B-8999CB03E9C7}tf10001105</Template>
  <TotalTime>801</TotalTime>
  <Words>391</Words>
  <Application>Microsoft Office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Franklin Gothic Book</vt:lpstr>
      <vt:lpstr>Times New Roman</vt:lpstr>
      <vt:lpstr>Crop</vt:lpstr>
      <vt:lpstr>Data analysis on        Tourism Dataset</vt:lpstr>
      <vt:lpstr>Domain knowledge and Company Information: 1. "Trips &amp; Travel .Com" company wants to enable and establish a viable business model to expand the customer base. 2. One of the ways to expand the customer base is to introduce a new offering of packages. Currently, there are 5 types of packages the company is offering -   1.Basic. 2.Standard. 3.Deluxe. 4Super Deluxe . 5.King.  The Marketing Department 1.Looking at the data of the last year, we observed that 18% of the customers purchased the packages.  2.the marketing cost was quite high because customers were contacted at random without looking at the available information.  Problem Statement: 1.The company is now planning to launch a new product . 2.Wellness Tourism Package Wellness Tourism is defined as Travel that allows the traveler to maintain, enhance or kick-start a healthy lifestyle, and support or increase one's sense of well-being.  Objectives: This time the company wants to harness the available data of existing and potential customers to make the marketing expenditure more efficient. </vt:lpstr>
      <vt:lpstr>Missing Values      V/S         Outliers Treatment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on        Tourism Dataset</dc:title>
  <dc:creator>Abhinay Rachakonda</dc:creator>
  <cp:lastModifiedBy>Microsoft account</cp:lastModifiedBy>
  <cp:revision>12</cp:revision>
  <dcterms:created xsi:type="dcterms:W3CDTF">2023-10-19T04:52:06Z</dcterms:created>
  <dcterms:modified xsi:type="dcterms:W3CDTF">2024-08-01T11:19:56Z</dcterms:modified>
</cp:coreProperties>
</file>